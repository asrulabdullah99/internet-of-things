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39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7.xml"/><Relationship Id="rId20" Type="http://schemas.openxmlformats.org/officeDocument/2006/relationships/slide" Target="slides/slide17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22" Type="http://schemas.openxmlformats.org/officeDocument/2006/relationships/slide" Target="slides/slide19.xml"/><Relationship Id="rId44" Type="http://schemas.openxmlformats.org/officeDocument/2006/relationships/slide" Target="slides/slide41.xml"/><Relationship Id="rId21" Type="http://schemas.openxmlformats.org/officeDocument/2006/relationships/slide" Target="slides/slide18.xml"/><Relationship Id="rId43" Type="http://schemas.openxmlformats.org/officeDocument/2006/relationships/slide" Target="slides/slide40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6.xml"/><Relationship Id="rId7" Type="http://schemas.openxmlformats.org/officeDocument/2006/relationships/slide" Target="slides/slide3.xml"/><Relationship Id="rId8" Type="http://schemas.openxmlformats.org/officeDocument/2006/relationships/slide" Target="slides/slide5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11" Type="http://schemas.openxmlformats.org/officeDocument/2006/relationships/slide" Target="slides/slide8.xml"/><Relationship Id="rId33" Type="http://schemas.openxmlformats.org/officeDocument/2006/relationships/slide" Target="slides/slide30.xml"/><Relationship Id="rId10" Type="http://schemas.openxmlformats.org/officeDocument/2006/relationships/slide" Target="slides/slide7.xml"/><Relationship Id="rId32" Type="http://schemas.openxmlformats.org/officeDocument/2006/relationships/slide" Target="slides/slide29.xml"/><Relationship Id="rId13" Type="http://schemas.openxmlformats.org/officeDocument/2006/relationships/slide" Target="slides/slide10.xml"/><Relationship Id="rId35" Type="http://schemas.openxmlformats.org/officeDocument/2006/relationships/slide" Target="slides/slide32.xml"/><Relationship Id="rId12" Type="http://schemas.openxmlformats.org/officeDocument/2006/relationships/slide" Target="slides/slide9.xml"/><Relationship Id="rId34" Type="http://schemas.openxmlformats.org/officeDocument/2006/relationships/slide" Target="slides/slide31.xml"/><Relationship Id="rId15" Type="http://schemas.openxmlformats.org/officeDocument/2006/relationships/slide" Target="slides/slide12.xml"/><Relationship Id="rId37" Type="http://schemas.openxmlformats.org/officeDocument/2006/relationships/slide" Target="slides/slide34.xml"/><Relationship Id="rId14" Type="http://schemas.openxmlformats.org/officeDocument/2006/relationships/slide" Target="slides/slide11.xml"/><Relationship Id="rId36" Type="http://schemas.openxmlformats.org/officeDocument/2006/relationships/slide" Target="slides/slide33.xml"/><Relationship Id="rId17" Type="http://schemas.openxmlformats.org/officeDocument/2006/relationships/slide" Target="slides/slide14.xml"/><Relationship Id="rId39" Type="http://schemas.openxmlformats.org/officeDocument/2006/relationships/slide" Target="slides/slide36.xml"/><Relationship Id="rId16" Type="http://schemas.openxmlformats.org/officeDocument/2006/relationships/slide" Target="slides/slide13.xml"/><Relationship Id="rId38" Type="http://schemas.openxmlformats.org/officeDocument/2006/relationships/slide" Target="slides/slide35.xml"/><Relationship Id="rId19" Type="http://schemas.openxmlformats.org/officeDocument/2006/relationships/slide" Target="slides/slide16.xml"/><Relationship Id="rId18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57.png"/><Relationship Id="rId4" Type="http://schemas.openxmlformats.org/officeDocument/2006/relationships/image" Target="../media/image6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73265" y="2408932"/>
            <a:ext cx="1845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Inter"/>
              </a:rPr>
              <a:t>MODUL DASAR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" y="2761357"/>
            <a:ext cx="10601325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Pengantar </a:t>
            </a:r>
            <a:r>
              <a:rPr b="1" sz="5400" i="0" u="none">
                <a:solidFill>
                  <a:srgbClr val="38BDF8"/>
                </a:solidFill>
                <a:latin typeface="Outfit"/>
              </a:rPr>
              <a:t>Praktikum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896617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Instalasi lingkungan kerja, perakitan elektronik dasar, dan pemrograman GPIO.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8808"/>
            <a:ext cx="3454449" cy="2524125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608808"/>
            <a:ext cx="3454449" cy="2524125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51683"/>
            <a:ext cx="3454449" cy="2238375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999333"/>
            <a:ext cx="2673399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2999333"/>
            <a:ext cx="2673399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3142208"/>
            <a:ext cx="2673399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Peta Pembelajaran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685133"/>
            <a:ext cx="350883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1. Setup 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170908"/>
            <a:ext cx="27686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Konfigurasi software pemrograman.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9374" y="3685133"/>
            <a:ext cx="350883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2. Elektronika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374" y="4170908"/>
            <a:ext cx="27686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Wiring komponen dan breadboard.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8624" y="3828008"/>
            <a:ext cx="350883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3. GPIO Dasar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4313783"/>
            <a:ext cx="334174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Praktikum Input dan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3741390"/>
            <a:ext cx="2362200" cy="250700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4423320"/>
            <a:ext cx="1143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887" y="1874490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887" y="237931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887" y="288414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09887" y="609600"/>
            <a:ext cx="7965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FONDASI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9887" y="962025"/>
            <a:ext cx="8363545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Otak Ekosistem IoT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8987" y="1845915"/>
            <a:ext cx="754618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Mikrokontroler: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Komputer mini terintegrasi.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987" y="2350740"/>
            <a:ext cx="754618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Mandiri: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Mengeksekusi satu program secara berulang.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987" y="2855565"/>
            <a:ext cx="754618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Interaktif: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Menghubungkan dunia digital dan fisik.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151757"/>
            <a:ext cx="914400" cy="91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687" y="2418457"/>
            <a:ext cx="428625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19725" y="3370957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BAGIAN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625" y="3723382"/>
            <a:ext cx="9988748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172A"/>
                </a:solidFill>
                <a:latin typeface="Outfit"/>
              </a:rPr>
              <a:t>Setup Lingkungan Kerja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3490"/>
            <a:ext cx="5257800" cy="4754909"/>
          </a:xfrm>
          <a:prstGeom prst="roundRect">
            <a:avLst>
              <a:gd name="adj" fmla="val 4807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493490"/>
            <a:ext cx="5257800" cy="4754909"/>
          </a:xfrm>
          <a:prstGeom prst="roundRect">
            <a:avLst>
              <a:gd name="adj" fmla="val 4807"/>
            </a:avLst>
          </a:prstGeom>
          <a:solidFill>
            <a:srgbClr val="E0F2FE"/>
          </a:solidFill>
          <a:ln w="1905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136552"/>
            <a:ext cx="180975" cy="219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536602"/>
            <a:ext cx="180975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3136552"/>
            <a:ext cx="180975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3536602"/>
            <a:ext cx="180975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Pilihan Editor (IDE)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1969740"/>
            <a:ext cx="565070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66534"/>
                </a:solidFill>
                <a:latin typeface="Outfit"/>
              </a:rPr>
              <a:t>Arduino 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2579340"/>
            <a:ext cx="538162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Sangat direkomendasikan untuk pemula.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850" y="1969740"/>
            <a:ext cx="53911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75985"/>
                </a:solidFill>
                <a:latin typeface="Outfit"/>
              </a:rPr>
              <a:t>PlatformIO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850" y="2579340"/>
            <a:ext cx="538162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Standar profesional berbasis VS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9225" y="3122265"/>
            <a:ext cx="5048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6A34A"/>
                </a:solidFill>
                <a:latin typeface="Inter"/>
              </a:rPr>
              <a:t>Antarmuka sederhana.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9225" y="3522315"/>
            <a:ext cx="5048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6A34A"/>
                </a:solidFill>
                <a:latin typeface="Inter"/>
              </a:rPr>
              <a:t>Siap pakai instan.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4225" y="3122265"/>
            <a:ext cx="5048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Manajemen pustaka otomatis.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4225" y="3522315"/>
            <a:ext cx="5048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Auto-completion cerdas.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591" y="2731740"/>
            <a:ext cx="6258817" cy="3524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591" y="2731740"/>
            <a:ext cx="6258817" cy="3524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8275" y="609600"/>
            <a:ext cx="10753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LINGKUNGAN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8275" y="962025"/>
            <a:ext cx="10753725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Arduino IDE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8275" y="1845915"/>
            <a:ext cx="107537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Editor resmi dengan fitur modern, autocompletion dasar, dan manajemen board visual.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65933"/>
            <a:ext cx="3454449" cy="2809875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608808"/>
            <a:ext cx="3454449" cy="2524125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608808"/>
            <a:ext cx="3454449" cy="2524125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8150" y="285645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67400" y="299933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26649" y="299933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Langkah Instalasi Board 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275" y="2856458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4130" y="3542258"/>
            <a:ext cx="192524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50" y="4028033"/>
            <a:ext cx="334174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Tambahkan URL JSON tambahan untuk board manager.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4525" y="2999333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9592" y="3685133"/>
            <a:ext cx="2512814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Board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199" y="4170908"/>
            <a:ext cx="33417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Cari "esp32 by Espressif Systems" di panel pencarian.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3774" y="2999333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0162" y="3685133"/>
            <a:ext cx="139017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Instalasi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4449" y="4170908"/>
            <a:ext cx="33417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Klik instal dan tunggu proses unduh inti sistem selesai.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1493490"/>
            <a:ext cx="7620000" cy="4754909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5" y="2112615"/>
            <a:ext cx="638175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51832" y="609600"/>
            <a:ext cx="6688335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Pemilihan Port Komunikasi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7976" y="3103215"/>
            <a:ext cx="8376046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Outfit"/>
              </a:rPr>
              <a:t>COM3 / dev/ttyUSB0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7406" y="3808065"/>
            <a:ext cx="79771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Board harus terdeteksi di menu Tools &gt; Port agar kode dapat diunggah.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94421" y="2147887"/>
            <a:ext cx="6203156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0F172A"/>
                </a:solidFill>
                <a:latin typeface="Outfit"/>
              </a:rPr>
              <a:t>115200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6960" y="3900487"/>
            <a:ext cx="463807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Outfit"/>
              </a:rPr>
              <a:t>Baud Rate Standar 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9406" y="4433887"/>
            <a:ext cx="6453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Kecepatan komunikasi data pada Serial Monitor.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10972800" cy="731668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10972800" cy="7316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38300" y="8535888"/>
            <a:ext cx="10553700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ALTERNATIF 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8300" y="8888313"/>
            <a:ext cx="10553700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Visual Studio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8300" y="9772203"/>
            <a:ext cx="10553700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Platform editor teks ringan yang sangat kuat melalui dukungan ekstensi komunitas.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8808"/>
            <a:ext cx="3454449" cy="2524125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465933"/>
            <a:ext cx="3454449" cy="2809875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608808"/>
            <a:ext cx="3454449" cy="2524125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999333"/>
            <a:ext cx="2673399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2856458"/>
            <a:ext cx="2673399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2999333"/>
            <a:ext cx="2673399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Keunggulan PlatformIO Ekstensi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685133"/>
            <a:ext cx="350883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Manajemen Pustaka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170908"/>
            <a:ext cx="27686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Otomatisasi unduh dan versi library per proyek.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9374" y="3542258"/>
            <a:ext cx="350883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Multi-Board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374" y="4028033"/>
            <a:ext cx="276864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Satu kode untuk berbagai jenis mikrokontroler berbeda.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8624" y="3685133"/>
            <a:ext cx="350883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IntelliSense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4170908"/>
            <a:ext cx="27686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Saran kode cerdas dan navigasi fungsi instan.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151757"/>
            <a:ext cx="914400" cy="91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2418457"/>
            <a:ext cx="28575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5437" y="3370957"/>
            <a:ext cx="1381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BAGIAN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6535" y="3723382"/>
            <a:ext cx="11438929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172A"/>
                </a:solidFill>
                <a:latin typeface="Outfit"/>
              </a:rPr>
              <a:t>Dasar Elektronika &amp; Wiring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731740"/>
            <a:ext cx="10039201" cy="6848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2731740"/>
            <a:ext cx="10039201" cy="6848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76462" y="609600"/>
            <a:ext cx="979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KANVAS ELEKTRONIK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462" y="962025"/>
            <a:ext cx="10015537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Mengenal Breadboard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462" y="1845915"/>
            <a:ext cx="97988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Papan prototipe tanpa solder untuk merakit komponen sirkuit sementara.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3490"/>
            <a:ext cx="5257800" cy="4754909"/>
          </a:xfrm>
          <a:prstGeom prst="roundRect">
            <a:avLst>
              <a:gd name="adj" fmla="val 480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493490"/>
            <a:ext cx="5257800" cy="4754909"/>
          </a:xfrm>
          <a:prstGeom prst="roundRect">
            <a:avLst>
              <a:gd name="adj" fmla="val 480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117502"/>
            <a:ext cx="180975" cy="219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517552"/>
            <a:ext cx="180975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117502"/>
            <a:ext cx="161925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517552"/>
            <a:ext cx="161925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Arsitektur Jalur Breadboard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1950690"/>
            <a:ext cx="570071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Outfit"/>
              </a:rPr>
              <a:t>Jalur Daya (Power Rails)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560290"/>
            <a:ext cx="542925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Garis merah (+) dan biru/hitam (-).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1950690"/>
            <a:ext cx="54102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Outfit"/>
              </a:rPr>
              <a:t>Jalur Terminal (Komponen)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2560290"/>
            <a:ext cx="54102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Area tengah dengan label A-E dan F-J.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0175" y="3103215"/>
            <a:ext cx="5095875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Terhubung secara horizontal penuh.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175" y="3503265"/>
            <a:ext cx="5095875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Distribusi arus utama.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6125" y="3103215"/>
            <a:ext cx="5095875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Terhubung secara vertikal per kolom.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6125" y="3503265"/>
            <a:ext cx="5095875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Titik temu antar komponen.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3490"/>
            <a:ext cx="3454449" cy="4754909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493490"/>
            <a:ext cx="3454449" cy="4754909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493490"/>
            <a:ext cx="3454449" cy="4754909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00" y="2999333"/>
            <a:ext cx="5715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2999333"/>
            <a:ext cx="3429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49" y="2999333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Aksesoris Esensial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0362" y="3685133"/>
            <a:ext cx="221277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Kabel Jumper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700" y="4170908"/>
            <a:ext cx="35322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Penghubung sirkuit (Male-to-Male, Male-to-Female).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088" y="3685133"/>
            <a:ext cx="258782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VCC (Tegangan)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9949" y="4170908"/>
            <a:ext cx="35322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Sumber daya utama positif dari mikrokontroler.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105" y="3685133"/>
            <a:ext cx="2300287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GND (Ground)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9199" y="4170908"/>
            <a:ext cx="35322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Titik referensi nol volt, kutub negatif sirkuit.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8125" y="2147887"/>
            <a:ext cx="409575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0F172A"/>
                </a:solidFill>
                <a:latin typeface="Outfit"/>
              </a:rPr>
              <a:t>3.3V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6978" y="3900487"/>
            <a:ext cx="433804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Outfit"/>
              </a:rPr>
              <a:t>Tegangan Logika 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0578" y="4433887"/>
            <a:ext cx="67508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Batas maksimal tegangan input/output komponen.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25" y="3741390"/>
            <a:ext cx="2724150" cy="250700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4423320"/>
            <a:ext cx="142875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62" y="1874490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062" y="237931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6062" y="2884140"/>
            <a:ext cx="2857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86062" y="609600"/>
            <a:ext cx="8274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KOMPONEN PELINDUNG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6062" y="962025"/>
            <a:ext cx="8688585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Resistor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5162" y="1845915"/>
            <a:ext cx="78557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Fungsi: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Membatasi jumlah arus listrik.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5162" y="2350740"/>
            <a:ext cx="78557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Tujuan: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Mencegah LED terbakar.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2312" y="2855565"/>
            <a:ext cx="77985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Satuan: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Ohm (Ω). Umumnya 220Ω atau 330Ω untuk LED.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5" y="609600"/>
            <a:ext cx="2152650" cy="250700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1291530"/>
            <a:ext cx="85725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437" y="4991100"/>
            <a:ext cx="2095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437" y="5495925"/>
            <a:ext cx="2095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1437" y="600075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81437" y="3726209"/>
            <a:ext cx="5536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AKTUATOR CAHAYA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1437" y="4078634"/>
            <a:ext cx="5813226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Light Emitting Diode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1487" y="4962525"/>
            <a:ext cx="51363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Anoda: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Kaki panjang (Positif).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1487" y="5467350"/>
            <a:ext cx="51363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Katoda: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Kaki pendek (Negatif/GND).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0537" y="5972175"/>
            <a:ext cx="51173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Sifat: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Arus hanya mengalir satu arah.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1683"/>
            <a:ext cx="5334000" cy="2238375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51683"/>
            <a:ext cx="5334000" cy="2238375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142208"/>
            <a:ext cx="455295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3142208"/>
            <a:ext cx="455295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Push Button (Saklar Tekan)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828008"/>
            <a:ext cx="597574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Normally Open (NO)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313783"/>
            <a:ext cx="56911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Kondisi normal sirkuit terputus (tidak ada arus).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828008"/>
            <a:ext cx="55530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Ditekan (Closed)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313783"/>
            <a:ext cx="55530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Menyambungkan sirkuit secara fisik saat ditahan.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07965"/>
            <a:ext cx="10972800" cy="6410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07965"/>
            <a:ext cx="10972800" cy="6410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ATURAN DASAR FISIKA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62025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Konsep Rangkaian Tertutup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5915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Arus hanya dapat mengalir dan menyalakan komponen jika terdapat rute penuh dari sumber (VCC) kembali ke Ground (GND).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151757"/>
            <a:ext cx="914400" cy="91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2418457"/>
            <a:ext cx="47625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675" y="3370957"/>
            <a:ext cx="1390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BAGIAN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" y="3723382"/>
            <a:ext cx="11715750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172A"/>
                </a:solidFill>
                <a:latin typeface="Outfit"/>
              </a:rPr>
              <a:t>Konsep Pemrograman GPIO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3490"/>
            <a:ext cx="5257800" cy="4754909"/>
          </a:xfrm>
          <a:prstGeom prst="roundRect">
            <a:avLst>
              <a:gd name="adj" fmla="val 480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493490"/>
            <a:ext cx="5257800" cy="4754909"/>
          </a:xfrm>
          <a:prstGeom prst="roundRect">
            <a:avLst>
              <a:gd name="adj" fmla="val 4807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117502"/>
            <a:ext cx="209550" cy="219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517552"/>
            <a:ext cx="209550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3117502"/>
            <a:ext cx="209550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3517552"/>
            <a:ext cx="133350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Jenis Sinyal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1950690"/>
            <a:ext cx="570071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Outfit"/>
              </a:rPr>
              <a:t>Sinyal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560290"/>
            <a:ext cx="542925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Hanya memiliki dua status mutlak.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1950690"/>
            <a:ext cx="54102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Outfit"/>
              </a:rPr>
              <a:t>Sinyal Analog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2560290"/>
            <a:ext cx="54102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Nilai berkelanjutan dalam suatu rentang.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50" y="3103215"/>
            <a:ext cx="50673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HIGH (1) / 3.3 Volt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3503265"/>
            <a:ext cx="50673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LOW (0) / 0 Volt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0" y="3103215"/>
            <a:ext cx="5048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Contoh: 0 hingga 4095.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7550" y="3503265"/>
            <a:ext cx="51244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Sensor suhu, intensitas cahaya.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3490"/>
            <a:ext cx="5334000" cy="4754909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93490"/>
            <a:ext cx="5334000" cy="4754909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999333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999333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Arah Data GPIO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3929" y="3685133"/>
            <a:ext cx="272534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Input (Membaca)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006" y="4170908"/>
            <a:ext cx="569118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Menerima sinyal dari sensor atau tombol masuk ke mikrokontroler.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0234" y="3685133"/>
            <a:ext cx="2650331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Output (Menulis)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9806" y="4170908"/>
            <a:ext cx="569118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Mengirimkan sinyal dari mikrokontroler keluar menuju aktuator atau LED.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64967" y="3236565"/>
            <a:ext cx="3662064" cy="3340744"/>
          </a:xfrm>
          <a:prstGeom prst="roundRect">
            <a:avLst>
              <a:gd name="adj" fmla="val 684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1874490"/>
            <a:ext cx="1143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25" y="2379315"/>
            <a:ext cx="1524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90725" y="609600"/>
            <a:ext cx="10201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ANATOMI KODE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0725" y="962025"/>
            <a:ext cx="10201275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Struktur Dasar Arduino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967" y="3617565"/>
            <a:ext cx="2995314" cy="2578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8BDF8"/>
                </a:solidFill>
                <a:latin typeface="monospace"/>
              </a:rPr>
              <a:t>void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 </a:t>
            </a:r>
            <a:r>
              <a:rPr b="0" sz="1800" i="0" u="none">
                <a:solidFill>
                  <a:srgbClr val="FBBF24"/>
                </a:solidFill>
                <a:latin typeface="monospace"/>
              </a:rPr>
              <a:t>setup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() { </a:t>
            </a:r>
            <a:r>
              <a:rPr b="0" sz="1800" i="0" u="none">
                <a:solidFill>
                  <a:srgbClr val="64748B"/>
                </a:solidFill>
                <a:latin typeface="monospace"/>
              </a:rPr>
              <a:t>// Inisialisasi pin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 } </a:t>
            </a:r>
            <a:r>
              <a:rPr b="0" sz="1800" i="0" u="none">
                <a:solidFill>
                  <a:srgbClr val="38BDF8"/>
                </a:solidFill>
                <a:latin typeface="monospace"/>
              </a:rPr>
              <a:t>void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 </a:t>
            </a:r>
            <a:r>
              <a:rPr b="0" sz="1800" i="0" u="none">
                <a:solidFill>
                  <a:srgbClr val="FBBF24"/>
                </a:solidFill>
                <a:latin typeface="monospace"/>
              </a:rPr>
              <a:t>loop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() { </a:t>
            </a:r>
            <a:r>
              <a:rPr b="0" sz="1800" i="0" u="none">
                <a:solidFill>
                  <a:srgbClr val="64748B"/>
                </a:solidFill>
                <a:latin typeface="monospace"/>
              </a:rPr>
              <a:t>// Logika berulang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95525" y="1845915"/>
            <a:ext cx="98964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setup():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Berjalan satu kali saat perangkat menyala. Untuk inisialisasi.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3625" y="2350740"/>
            <a:ext cx="98583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loop():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 Berjalan berulang terus-menerus tanpa henti. Berisi logika utama.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74406" y="2251769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FUNGSI INISIALISASI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65227" y="2604194"/>
            <a:ext cx="4861545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172A"/>
                </a:solidFill>
                <a:latin typeface="monospace"/>
              </a:rPr>
              <a:t>pinMode()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6078" y="3815655"/>
            <a:ext cx="1017984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475569"/>
                </a:solidFill>
                <a:latin typeface="Inter"/>
              </a:rPr>
              <a:t>Mendefinisikan peran fisik suatu pin kaki mikrokontroler.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6591" y="4339530"/>
            <a:ext cx="565881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F172A"/>
                </a:solidFill>
                <a:latin typeface="monospace"/>
              </a:rPr>
              <a:t>Format: pinMode(nomor_pin, MODE);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3490"/>
            <a:ext cx="3454449" cy="4754909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493490"/>
            <a:ext cx="3454449" cy="4754909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493490"/>
            <a:ext cx="3454449" cy="4754909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Parameter Mode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6675" y="3351758"/>
            <a:ext cx="1140298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monospace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50" y="3818483"/>
            <a:ext cx="37227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Pin bersiap menerima tegangan masuk.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1852" y="3351758"/>
            <a:ext cx="1308444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monospace"/>
              </a:rPr>
              <a:t>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4699" y="3818483"/>
            <a:ext cx="37227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Pin bersiap mengeluarkan tegangan.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4912" y="3351758"/>
            <a:ext cx="2520822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monospace"/>
              </a:rPr>
              <a:t>INPUT_PULLUP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3949" y="3818483"/>
            <a:ext cx="37227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Input dengan aktivasi resistor penarik internal.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96357" y="3638996"/>
            <a:ext cx="3799135" cy="2609403"/>
          </a:xfrm>
          <a:prstGeom prst="roundRect">
            <a:avLst>
              <a:gd name="adj" fmla="val 876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2937" y="609600"/>
            <a:ext cx="11549062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monospace"/>
              </a:rPr>
              <a:t>digitalWrite()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37" y="1493490"/>
            <a:ext cx="115490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Memerintahkan pin OUTPUT untuk mengeluarkan tegangan (HIGH) atau mematikan tegangan (LOW).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7357" y="4019996"/>
            <a:ext cx="3132385" cy="1847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monospace"/>
              </a:rPr>
              <a:t>// Nyalakan pin 2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 </a:t>
            </a:r>
            <a:r>
              <a:rPr b="0" sz="1800" i="0" u="none">
                <a:solidFill>
                  <a:srgbClr val="FBBF24"/>
                </a:solidFill>
                <a:latin typeface="monospace"/>
              </a:rPr>
              <a:t>digitalWrite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(2, HIGH); </a:t>
            </a:r>
            <a:r>
              <a:rPr b="0" sz="1800" i="0" u="none">
                <a:solidFill>
                  <a:srgbClr val="64748B"/>
                </a:solidFill>
                <a:latin typeface="monospace"/>
              </a:rPr>
              <a:t>// Matikan pin 2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 </a:t>
            </a:r>
            <a:r>
              <a:rPr b="0" sz="1800" i="0" u="none">
                <a:solidFill>
                  <a:srgbClr val="FBBF24"/>
                </a:solidFill>
                <a:latin typeface="monospace"/>
              </a:rPr>
              <a:t>digitalWrite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(2, LOW);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53308" y="609600"/>
            <a:ext cx="4485233" cy="2609403"/>
          </a:xfrm>
          <a:prstGeom prst="roundRect">
            <a:avLst>
              <a:gd name="adj" fmla="val 876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34308" y="990600"/>
            <a:ext cx="3818483" cy="1847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monospace"/>
              </a:rPr>
              <a:t>// Baca status pin 4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 </a:t>
            </a:r>
            <a:r>
              <a:rPr b="0" sz="1800" i="0" u="none">
                <a:solidFill>
                  <a:srgbClr val="38BDF8"/>
                </a:solidFill>
                <a:latin typeface="monospace"/>
              </a:rPr>
              <a:t>int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 state = </a:t>
            </a:r>
            <a:r>
              <a:rPr b="0" sz="1800" i="0" u="none">
                <a:solidFill>
                  <a:srgbClr val="FBBF24"/>
                </a:solidFill>
                <a:latin typeface="monospace"/>
              </a:rPr>
              <a:t>digitalRead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(4); </a:t>
            </a:r>
            <a:r>
              <a:rPr b="0" sz="1800" i="0" u="none">
                <a:solidFill>
                  <a:srgbClr val="64748B"/>
                </a:solidFill>
                <a:latin typeface="monospace"/>
              </a:rPr>
              <a:t>// Hasilnya berupa angka</a:t>
            </a:r>
            <a:r>
              <a:rPr b="0" sz="1800" i="0" u="none">
                <a:solidFill>
                  <a:srgbClr val="F8FAFC"/>
                </a:solidFill>
                <a:latin typeface="monospace"/>
              </a:rPr>
              <a:t> </a:t>
            </a:r>
            <a:r>
              <a:rPr b="0" sz="1800" i="0" u="none">
                <a:solidFill>
                  <a:srgbClr val="64748B"/>
                </a:solidFill>
                <a:latin typeface="monospace"/>
              </a:rPr>
              <a:t>// 1 (HIGH) atau 0 (LOW)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3562" y="3828603"/>
            <a:ext cx="10358437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monospace"/>
              </a:rPr>
              <a:t>digitalRead()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3562" y="4712493"/>
            <a:ext cx="103584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Membaca status tegangan saat ini pada pin INPUT. Menghasilkan nilai 1 atau 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3490"/>
            <a:ext cx="5257800" cy="4754909"/>
          </a:xfrm>
          <a:prstGeom prst="roundRect">
            <a:avLst>
              <a:gd name="adj" fmla="val 4807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493490"/>
            <a:ext cx="5257800" cy="4754909"/>
          </a:xfrm>
          <a:prstGeom prst="roundRect">
            <a:avLst>
              <a:gd name="adj" fmla="val 480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Isu Kritis: Floating 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950690"/>
            <a:ext cx="570071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B91C1C"/>
                </a:solidFill>
                <a:latin typeface="Outfit"/>
              </a:rPr>
              <a:t>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560290"/>
            <a:ext cx="443865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Tanpa tombol ditekan, status pin tidak jelas (mengambang). Terpengaruh noise elektromagnetik sekitar.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800" y="1950690"/>
            <a:ext cx="54102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5803D"/>
                </a:solidFill>
                <a:latin typeface="Outfit"/>
              </a:rPr>
              <a:t>Solusi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1800" y="2560290"/>
            <a:ext cx="443865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Wajib memberikan referensi voltase pasti menggunakan Resistor Pull-Up atau Pull-Down.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1708"/>
            <a:ext cx="5334000" cy="1838325"/>
          </a:xfrm>
          <a:prstGeom prst="roundRect">
            <a:avLst>
              <a:gd name="adj" fmla="val 124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51708"/>
            <a:ext cx="5334000" cy="1838325"/>
          </a:xfrm>
          <a:prstGeom prst="roundRect">
            <a:avLst>
              <a:gd name="adj" fmla="val 124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Konsep Resistor Referensi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342233"/>
            <a:ext cx="597574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Pull-Up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828008"/>
            <a:ext cx="4648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Ditarik ke VCC. Status default = 1 (HIGH). Saat ditekan berubah ke 0 (LOW).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925" y="3342233"/>
            <a:ext cx="55530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Pull-Down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828008"/>
            <a:ext cx="46482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Ditarik ke GND. Status default = 0 (LOW). Saat ditekan berubah ke 1 (HIGH).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65227" y="2242244"/>
            <a:ext cx="4861545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172A"/>
                </a:solidFill>
                <a:latin typeface="monospace"/>
              </a:rPr>
              <a:t>delay(ms)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81000" y="3453705"/>
            <a:ext cx="129540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475569"/>
                </a:solidFill>
                <a:latin typeface="Inter"/>
              </a:rPr>
              <a:t>Menghentikan sementara seluruh eksekusi program dalam hitungan milidetik.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502" y="4349055"/>
            <a:ext cx="428699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F172A"/>
                </a:solidFill>
                <a:latin typeface="monospace"/>
              </a:rPr>
              <a:t>1000 milidetik = 1 detik.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151757"/>
            <a:ext cx="914400" cy="91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2418457"/>
            <a:ext cx="28575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675" y="3370957"/>
            <a:ext cx="1390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BAGIAN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5412" y="3723382"/>
            <a:ext cx="9401175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172A"/>
                </a:solidFill>
                <a:latin typeface="Outfit"/>
              </a:rPr>
              <a:t>Praktikum 1: LED Blink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38625" y="3798540"/>
            <a:ext cx="3714750" cy="2676525"/>
          </a:xfrm>
          <a:prstGeom prst="roundRect">
            <a:avLst>
              <a:gd name="adj" fmla="val 854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7" y="4408140"/>
            <a:ext cx="1190625" cy="95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1874490"/>
            <a:ext cx="1714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150" y="1884015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398365"/>
            <a:ext cx="1714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2407890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922240"/>
            <a:ext cx="1714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2931765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48075" y="609600"/>
            <a:ext cx="611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KONEKSI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075" y="962025"/>
            <a:ext cx="6425803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Skema Rangkaian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0025" y="1845915"/>
            <a:ext cx="575786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Pin 2 ESP32 Resistor.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0025" y="2369790"/>
            <a:ext cx="575786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Resistor LED (Kaki Anoda).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0025" y="2893665"/>
            <a:ext cx="575786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LED (Kaki Katoda) Pin GND.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281" y="5589240"/>
            <a:ext cx="31194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Ilustrasi Loop Tertutup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/>
          <p:nvPr/>
        </p:nvSpPr>
        <p:spPr>
          <a:xfrm>
            <a:off x="609600" y="1493490"/>
            <a:ext cx="10972800" cy="4437900"/>
          </a:xfrm>
          <a:prstGeom prst="roundRect">
            <a:avLst>
              <a:gd fmla="val 5151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609600" y="609600"/>
            <a:ext cx="1158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Kode Program: LED Blink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942900" y="1583421"/>
            <a:ext cx="10306200" cy="4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9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() { </a:t>
            </a:r>
            <a:endParaRPr b="0" i="0" sz="19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(2, OUTPUT); </a:t>
            </a:r>
            <a:r>
              <a:rPr b="0" i="0" lang="en-US" sz="1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// Set pin 2 sebagai keluaran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9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9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() { </a:t>
            </a:r>
            <a:endParaRPr b="0" i="0" sz="19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(2, HIGH); </a:t>
            </a:r>
            <a:r>
              <a:rPr b="0" i="0" lang="en-US" sz="1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// Nyalakan LED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(1000); </a:t>
            </a:r>
            <a:r>
              <a:rPr b="0" i="0" lang="en-US" sz="1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// Tunggu 1 detik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(2, LOW); </a:t>
            </a:r>
            <a:r>
              <a:rPr b="0" i="0" lang="en-US" sz="1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// Matikan LED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(1000); </a:t>
            </a:r>
            <a:r>
              <a:rPr b="0" i="0" lang="en-US" sz="1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// Tunggu 1 detik</a:t>
            </a: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3490"/>
            <a:ext cx="3454449" cy="4754909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493490"/>
            <a:ext cx="3454449" cy="4754909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493490"/>
            <a:ext cx="3454449" cy="4754909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Alur Eksekusi Logika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6670" y="3342233"/>
            <a:ext cx="128016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Tahap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950" y="3828008"/>
            <a:ext cx="33417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Tegangan 3.3V dialirkan ke sirkuit (HIGH).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30916" y="3342233"/>
            <a:ext cx="133016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Tahap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199" y="3828008"/>
            <a:ext cx="33417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Sistem diam (jeda) menahan status arus selama 1 detik.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90166" y="3342233"/>
            <a:ext cx="133016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Outfit"/>
              </a:rPr>
              <a:t>Tahap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4449" y="3828008"/>
            <a:ext cx="334174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Arus diputus secara digital (LOW) lalu kembali dijeda.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151757"/>
            <a:ext cx="914400" cy="91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2418457"/>
            <a:ext cx="47625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5437" y="3370957"/>
            <a:ext cx="1381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BAGIAN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" y="3723382"/>
            <a:ext cx="11811000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172A"/>
                </a:solidFill>
                <a:latin typeface="Outfit"/>
              </a:rPr>
              <a:t>Praktikum 2: Input Interaktif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5837" y="3779490"/>
            <a:ext cx="10220325" cy="2468909"/>
          </a:xfrm>
          <a:prstGeom prst="roundRect">
            <a:avLst>
              <a:gd name="adj" fmla="val 9259"/>
            </a:avLst>
          </a:prstGeom>
          <a:solidFill>
            <a:srgbClr val="F0F9F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12" y="1874490"/>
            <a:ext cx="2286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2" y="2379315"/>
            <a:ext cx="1714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587" y="2388840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2" y="2903190"/>
            <a:ext cx="1714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37" y="2912715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38512" y="609600"/>
            <a:ext cx="6893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KONEKSI EFISIEN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8512" y="962025"/>
            <a:ext cx="7238404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Skema Input Internal Pull-Up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7612" y="1845915"/>
            <a:ext cx="64746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Gunakan fitur resistor internal ESP32.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462" y="2350740"/>
            <a:ext cx="65317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Pin 4 Kaki Button 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0462" y="2874615"/>
            <a:ext cx="65317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Kaki Button B GND.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5887" y="4179540"/>
            <a:ext cx="108061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369A1"/>
                </a:solidFill>
                <a:latin typeface="Outfit"/>
              </a:rPr>
              <a:t>Penting!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5887" y="4665315"/>
            <a:ext cx="108061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Karena terhubung ke GND, saat tombol ditekan nilainya menjadi 0 (LOW). Saat dilepas nilainya 1 (HIGH).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609600" y="1493490"/>
            <a:ext cx="10972800" cy="5169000"/>
          </a:xfrm>
          <a:prstGeom prst="roundRect">
            <a:avLst>
              <a:gd fmla="val 4422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09600" y="609600"/>
            <a:ext cx="1158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Kode Logika Interaktif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900900" y="1631375"/>
            <a:ext cx="10390200" cy="47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() {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(2, OUTPUT);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(4, INPUT_PULLUP);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() {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statusTombol = </a:t>
            </a:r>
            <a:r>
              <a:rPr b="0" i="0" lang="en-US" sz="16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digitalRead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(4);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(statusTombol == LOW) {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(2, HIGH);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b="0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{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(2, LOW); 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70732"/>
            <a:ext cx="762000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465" y="2637532"/>
            <a:ext cx="8551068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Tahap Dasar Selesai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72792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Anda telah berhasil membangun fondasi pertama ekosistem IoT.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85046" y="4934842"/>
            <a:ext cx="3821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Inter"/>
              </a:rPr>
              <a:t>SESI DISKUSI &amp; TANYA JAWAB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45539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2691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99844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6996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2173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2173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9889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9889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7604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7604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5319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5319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98265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9790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41315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1284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68436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3675459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Outfit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641127"/>
            <a:ext cx="4191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https://cdn2.botland.store/img/cms/23305_1_kwadrat.jpg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841152"/>
            <a:ext cx="1940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botland.store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2412652"/>
            <a:ext cx="7096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https://docs.arduino.cc/static/6510febddcd0559432446f94ba189bfb/a6d36/ide-2-overview.png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612677"/>
            <a:ext cx="2202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docs.arduino.cc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3184177"/>
            <a:ext cx="547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https://code.visualstudio.com/assets/docs/editing/userinterface/hero.png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3384202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code.visualstudio.com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955702"/>
            <a:ext cx="7870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https://as1.ftcdn.net/v2/jpg/07/29/18/78/1000_F_729187897_UbhwUEOJdCbzR4dU5WMY7UIvEzagWvvr.jpg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4155727"/>
            <a:ext cx="2619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www.europosters.de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727227"/>
            <a:ext cx="4083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https://i.ytimg.com/vi/yQ2-yVXFMeE/maxresdefault.jpg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927252"/>
            <a:ext cx="244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www.youtube.com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