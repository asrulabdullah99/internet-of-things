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39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686050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952750"/>
            <a:ext cx="1158240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Sistem Sensor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85182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Pembacaan Analog vs Digital dan Praktikum Lingkungan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5552"/>
            <a:ext cx="3454449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55552"/>
            <a:ext cx="3454449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55552"/>
            <a:ext cx="3454449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14607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146077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146077"/>
            <a:ext cx="33337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Agenda Pembahasan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755677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Dasar 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212877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Arsitektur I/O mikroprosesor.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9374" y="3755677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Analog &amp;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374" y="4212877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Perbandingan sinyal sensor.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8624" y="3755677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Praktikum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8624" y="4212877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Integrasi sensor lingkungan.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977479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09600"/>
            <a:ext cx="5257800" cy="563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244179"/>
            <a:ext cx="690086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Mikrokontroler ESP32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45159"/>
            <a:ext cx="5353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Otak utama pemrosesan data sensor dengan konektivitas nirkabel terintegrasi.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89920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Konektivitas: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WiFi dan Bluetooth 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270920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Arsitektur: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Prosesor dual-core 32-bit.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51920"/>
            <a:ext cx="6572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Fleksibilitas: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Kompatibel dengan Arduino 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537" y="2080319"/>
            <a:ext cx="542925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0296" y="2994719"/>
            <a:ext cx="11251406" cy="1782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"Sensor adalah jembatan yang mengubah besaran fisik dunia nyata menjadi data komputasi."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Spesifikasi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5728" y="3207990"/>
            <a:ext cx="2035968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Space Grotesk"/>
              </a:rPr>
              <a:t>240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5728" y="4122390"/>
            <a:ext cx="2035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MHz Clock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4819" y="3207990"/>
            <a:ext cx="192881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Space Grotesk"/>
              </a:rPr>
              <a:t>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4819" y="4122390"/>
            <a:ext cx="1928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Volt Level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7476" y="3207990"/>
            <a:ext cx="12477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Space Grotes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7476" y="4122390"/>
            <a:ext cx="12477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Kanal ADC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Evolusi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Space Grotesk"/>
              </a:rPr>
              <a:t>Arduino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Space Grotesk"/>
              </a:rPr>
              <a:t>NodeMCU ESP32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88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Inter"/>
              </a:rPr>
              <a:t>Logika: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5.0 Volt.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2508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Inter"/>
              </a:rPr>
              <a:t>ADC: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Resolusi 10-bit.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13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Inter"/>
              </a:rPr>
              <a:t>Jaringan: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Modul eksternal diperlukan.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5488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Inter"/>
              </a:rPr>
              <a:t>Logika: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3.3 Volt maksimal.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508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Inter"/>
              </a:rPr>
              <a:t>ADC: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Resolusi 12-bit.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013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Inter"/>
              </a:rPr>
              <a:t>Jaringan: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Chip nirkabel internal.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09600"/>
            <a:ext cx="5257800" cy="563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232719"/>
            <a:ext cx="690086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Karakteristik Sinyal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33700"/>
            <a:ext cx="6572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Perbedaan mendasar wujud data kelistrikan.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482280"/>
            <a:ext cx="53530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Sinyal Analog: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Berubah terus-menerus mengikuti besaran alamiah.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29980"/>
            <a:ext cx="53530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Sinyal Digital: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Terkuantisasi dalam kondisi tegas nyala atau mati.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6096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Konversi Analog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4862" y="2717452"/>
            <a:ext cx="3702843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b="1" sz="12000" i="0" u="none">
                <a:solidFill>
                  <a:srgbClr val="2563EB"/>
                </a:solidFill>
                <a:latin typeface="Space Grotesk"/>
              </a:rPr>
              <a:t>ADC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8025" y="4470052"/>
            <a:ext cx="711993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475569"/>
                </a:solidFill>
                <a:latin typeface="Inter"/>
              </a:rPr>
              <a:t>Analog to Digital Converter terintegrasi.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2727"/>
            <a:ext cx="238125" cy="276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41377"/>
            <a:ext cx="238125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70027"/>
            <a:ext cx="238125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Membaca Sensor Analog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88915"/>
            <a:ext cx="11277600" cy="323850"/>
          </a:xfrm>
          <a:prstGeom prst="rect">
            <a:avLst/>
          </a:prstGeom>
          <a:noFill/>
        </p:spPr>
        <p:txBody>
          <a:bodyPr wrap="none" lIns="390525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Inter"/>
              </a:rPr>
              <a:t>Tegangan Input:</a:t>
            </a:r>
            <a:r>
              <a:rPr b="0" sz="2100" i="0" u="none">
                <a:solidFill>
                  <a:srgbClr val="334155"/>
                </a:solidFill>
                <a:latin typeface="Inter"/>
              </a:rPr>
              <a:t> Bervariasi antara 0V hingga 3.3V.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7565"/>
            <a:ext cx="11277600" cy="323850"/>
          </a:xfrm>
          <a:prstGeom prst="rect">
            <a:avLst/>
          </a:prstGeom>
          <a:noFill/>
        </p:spPr>
        <p:txBody>
          <a:bodyPr wrap="none" lIns="390525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Inter"/>
              </a:rPr>
              <a:t>Rentan Noise:</a:t>
            </a:r>
            <a:r>
              <a:rPr b="0" sz="2100" i="0" u="none">
                <a:solidFill>
                  <a:srgbClr val="334155"/>
                </a:solidFill>
                <a:latin typeface="Inter"/>
              </a:rPr>
              <a:t> Mudah terpengaruh panjang kabel.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46215"/>
            <a:ext cx="11277600" cy="323850"/>
          </a:xfrm>
          <a:prstGeom prst="rect">
            <a:avLst/>
          </a:prstGeom>
          <a:noFill/>
        </p:spPr>
        <p:txBody>
          <a:bodyPr wrap="none" lIns="390525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Inter"/>
              </a:rPr>
              <a:t>Fungsi ESP32:</a:t>
            </a:r>
            <a:r>
              <a:rPr b="0" sz="2100" i="0" u="none">
                <a:solidFill>
                  <a:srgbClr val="334155"/>
                </a:solidFill>
                <a:latin typeface="Inter"/>
              </a:rPr>
              <a:t> Membutuhkan pin khusus (GPIO 32-39).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987" y="3474690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381000" y="6096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Resolusi 12-bit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100" y="3207990"/>
            <a:ext cx="195262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0V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100" y="4122390"/>
            <a:ext cx="195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Output Integer: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796" y="3207990"/>
            <a:ext cx="239315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Space Grotesk"/>
              </a:rPr>
              <a:t>3.3V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796" y="4122390"/>
            <a:ext cx="23931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Output Integer: 4095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6096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Biner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2526952"/>
            <a:ext cx="4762500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b="1" sz="15000" i="0" u="none">
                <a:solidFill>
                  <a:srgbClr val="0F172A"/>
                </a:solidFill>
                <a:latin typeface="Space Grotesk"/>
              </a:rPr>
              <a:t>0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0812" y="4660552"/>
            <a:ext cx="8512968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475569"/>
                </a:solidFill>
                <a:latin typeface="Inter"/>
              </a:rPr>
              <a:t>Representasi tegas HIGH (3.3V) dan LOW (0V).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8902"/>
            <a:ext cx="3454449" cy="1781175"/>
          </a:xfrm>
          <a:prstGeom prst="roundRect">
            <a:avLst>
              <a:gd name="adj" fmla="val 85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88890"/>
            <a:ext cx="3454449" cy="19812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60352"/>
            <a:ext cx="3454449" cy="1438275"/>
          </a:xfrm>
          <a:prstGeom prst="roundRect">
            <a:avLst>
              <a:gd name="adj" fmla="val 105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Protokol Sensor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279427"/>
            <a:ext cx="290708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I2C (Inter-Integrated)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079527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Dua kabel data utama.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9374" y="3179415"/>
            <a:ext cx="290708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SPI (Serial Peripheral)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9374" y="3979515"/>
            <a:ext cx="27686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Komunikasi kecepatan sangat tinggi.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8624" y="3450877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1-Wire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8624" y="3908077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Satu jalur transfer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Komparasi Performa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Space Grotesk"/>
              </a:rPr>
              <a:t>Sensor Analog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Space Grotesk"/>
              </a:rPr>
              <a:t>Sensor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88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Pembacaan instan tanpa delay.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2508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Resolusi bergantung kualitas ADC.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13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Degradasi sinyal pada kabel panjang.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5488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Butuh waktu pemrosesan internal.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508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Akurasi kalibrasi dari pabrik.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013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Transmisi data kebal interferensi.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Alur Akuisisi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3025080"/>
            <a:ext cx="10972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529780"/>
            <a:ext cx="1895475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5650" y="2529780"/>
            <a:ext cx="23622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48425" y="2529780"/>
            <a:ext cx="20764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15450" y="2529780"/>
            <a:ext cx="22669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52537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71950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81850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4125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662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415" y="3291780"/>
            <a:ext cx="17978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Fenomena Fisik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9075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125" y="3291780"/>
            <a:ext cx="2381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Respons Transduser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8975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4618" y="3291780"/>
            <a:ext cx="2024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Digitalisasi (ADC)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0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831" y="3291780"/>
            <a:ext cx="2262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Pemrosesan ESP32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64471" y="2766119"/>
            <a:ext cx="4463057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1E3A8A"/>
                </a:solidFill>
                <a:latin typeface="Space Grotesk"/>
              </a:rPr>
              <a:t>Praktikum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19312" y="3665190"/>
            <a:ext cx="7953375" cy="42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400" i="0" u="none">
                <a:solidFill>
                  <a:srgbClr val="3B82F6"/>
                </a:solidFill>
                <a:latin typeface="Inter"/>
              </a:rPr>
              <a:t>Sensor Digital DHT22 (Suhu &amp; Kelembaban)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67979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09600"/>
            <a:ext cx="5257800" cy="563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434679"/>
            <a:ext cx="690086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Sensor DHT22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35659"/>
            <a:ext cx="5353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Modul pengukur iklim ruang berpresisi menengah.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04220"/>
            <a:ext cx="5353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Memanfaatkan protokol komunikasi digital khusus untuk mengirimkan dua variabel lingkungan melalui satu kabel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24992"/>
            <a:ext cx="3647628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7228" y="2324992"/>
            <a:ext cx="3900636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57864" y="2324992"/>
            <a:ext cx="3424535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067942"/>
            <a:ext cx="36476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57228" y="3067942"/>
            <a:ext cx="3900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57864" y="3067942"/>
            <a:ext cx="3424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782317"/>
            <a:ext cx="36476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7228" y="3782317"/>
            <a:ext cx="3900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57864" y="3782317"/>
            <a:ext cx="3424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496692"/>
            <a:ext cx="36476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7228" y="4496692"/>
            <a:ext cx="3900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7864" y="4496692"/>
            <a:ext cx="3424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600" y="1615380"/>
          <a:ext cx="10972799" cy="2895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47628"/>
                <a:gridCol w="3900636"/>
                <a:gridCol w="3424535"/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Space Grotesk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Space Grotesk"/>
                        </a:rPr>
                        <a:t>Rentang Ukur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Space Grotesk"/>
                        </a:rPr>
                        <a:t>Akurasi Toleransi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Suhu Udara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-40°C hingga 80°C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±0.5°C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Kelembaban Relatif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0% hingga 100% RH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±2% hingga 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Siklus Sampling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2 Detik (Maksimal)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Operasi lambat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Spesifikasi Komponen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3240"/>
            <a:ext cx="3454449" cy="140970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303240"/>
            <a:ext cx="3454449" cy="140970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303240"/>
            <a:ext cx="3454449" cy="140970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Konfigurasi Wiring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950" y="3693765"/>
            <a:ext cx="33417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EF4444"/>
                </a:solidFill>
                <a:latin typeface="Inter"/>
              </a:rPr>
              <a:t>VCC (Pin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50" y="4122390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Sambungkan ke 3.3V ESP32.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199" y="3693765"/>
            <a:ext cx="33417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DATA (Pin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199" y="4122390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Sambungkan ke GPIO digital.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4449" y="3693765"/>
            <a:ext cx="33417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GND (Pin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4449" y="4122390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Sambungkan ke Ground sistem.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26890"/>
            <a:ext cx="10972800" cy="3505200"/>
          </a:xfrm>
          <a:prstGeom prst="roundRect">
            <a:avLst>
              <a:gd name="adj" fmla="val 32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1. Impor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2407890"/>
            <a:ext cx="1030605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E2E8F0"/>
                </a:solidFill>
                <a:latin typeface="Fira Code"/>
              </a:rPr>
              <a:t>#include // Definisikan pin data sensor #define DHTPIN 4 // Pilih tipe sensor DHT #define DHTTYPE DHT22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609600" y="1683990"/>
            <a:ext cx="10972800" cy="4191000"/>
          </a:xfrm>
          <a:prstGeom prst="roundRect">
            <a:avLst>
              <a:gd fmla="val 272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609600" y="609600"/>
            <a:ext cx="115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Inisialisasi Objek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990600" y="2064990"/>
            <a:ext cx="103062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// Buat instance sensor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DHT dht(DHTPIN, DHTTYPE);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void setup() {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Serial.begin(115200); // Memulai sensor DHT </a:t>
            </a:r>
            <a:endParaRPr sz="18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dht.begin();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609600" y="1683990"/>
            <a:ext cx="10972800" cy="4191000"/>
          </a:xfrm>
          <a:prstGeom prst="roundRect">
            <a:avLst>
              <a:gd fmla="val 272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09600" y="609600"/>
            <a:ext cx="115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Pembacaan Data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990600" y="2064990"/>
            <a:ext cx="103062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void loop() {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delay(2000); // Waktu jeda wajib 2 detik // Baca persentase kelembaban float h = dht.readHumidity(); // Baca suhu dalam Celcius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float t = dht.readTemperature();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Target Output Serial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90712" y="3207990"/>
            <a:ext cx="302418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24.5°C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0712" y="4122390"/>
            <a:ext cx="3024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Variabel Suhu (t)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2128" y="3207990"/>
            <a:ext cx="277415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Space Grotesk"/>
              </a:rPr>
              <a:t>60.2%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2128" y="4122390"/>
            <a:ext cx="27741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Variabel Kelembaban (h)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Pemilihan Sensor Iklim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64748B"/>
                </a:solidFill>
                <a:latin typeface="Space Grotesk"/>
              </a:rPr>
              <a:t>Modul DHT11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Space Grotesk"/>
              </a:rPr>
              <a:t>Modul DHT22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88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Warna fisik biru.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2508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Akurasi suhu rendah (±2°C).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13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Cocok untuk prototipe awal.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5488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Warna fisik putih.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508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Akurasi suhu tinggi (±0.5°C).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013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Cocok untuk alat presisi.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8214" y="2766119"/>
            <a:ext cx="4575571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1E3A8A"/>
                </a:solidFill>
                <a:latin typeface="Space Grotesk"/>
              </a:rPr>
              <a:t>Praktikum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82515" y="3665190"/>
            <a:ext cx="6226968" cy="42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400" i="0" u="none">
                <a:solidFill>
                  <a:srgbClr val="3B82F6"/>
                </a:solidFill>
                <a:latin typeface="Inter"/>
              </a:rPr>
              <a:t>Sensor Analog Kelembaban Tanah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42269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09600"/>
            <a:ext cx="5257800" cy="563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708969"/>
            <a:ext cx="690086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Soil Moisture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409950"/>
            <a:ext cx="6572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Pembacaan analog kondisi media tanam.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58530"/>
            <a:ext cx="535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Versi kapasitif mendeteksi perubahan kapasitansi di sekitarnya tanpa kontak elektrik langsung dengan tanah.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301180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Tipe Sensor Tanah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EF4444"/>
                </a:solidFill>
                <a:latin typeface="Space Grotesk"/>
              </a:rPr>
              <a:t>Sensor Resistif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67780"/>
            <a:ext cx="55406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Space Grotesk"/>
              </a:rPr>
              <a:t>Sensor Kapasitif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88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Mengukur hambatan listrik tanah.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2508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Jalur tembaga terekspos 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1330"/>
            <a:ext cx="6172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Sangat cepat berkarat (korosi).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5488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Mengukur medan elektrostatis.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508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Jalur dilapisi isolator pelindung.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01330"/>
            <a:ext cx="5486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Umur pemakaian sangat panjang.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488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2508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01330"/>
            <a:ext cx="1714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2400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3240"/>
            <a:ext cx="3454449" cy="140970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303240"/>
            <a:ext cx="3454449" cy="1409700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203227"/>
            <a:ext cx="3454449" cy="1609725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Koneksi Sinyal Analog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950" y="3693765"/>
            <a:ext cx="33417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EF4444"/>
                </a:solidFill>
                <a:latin typeface="Inter"/>
              </a:rPr>
              <a:t>VCC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50" y="4122390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Sumber daya 3.3V bersih.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199" y="3693765"/>
            <a:ext cx="33417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GND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199" y="4122390"/>
            <a:ext cx="33417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Referensi ground bersama.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4449" y="3593752"/>
            <a:ext cx="33417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563EB"/>
                </a:solidFill>
                <a:latin typeface="Inter"/>
              </a:rPr>
              <a:t>AOUT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4449" y="4022377"/>
            <a:ext cx="33417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Sambung ke GPIO34 (Input ADC).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609600" y="1683990"/>
            <a:ext cx="10972800" cy="4191000"/>
          </a:xfrm>
          <a:prstGeom prst="roundRect">
            <a:avLst>
              <a:gd fmla="val 272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609600" y="609600"/>
            <a:ext cx="115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Inisialisasi ADC</a:t>
            </a:r>
            <a:endParaRPr/>
          </a:p>
        </p:txBody>
      </p:sp>
      <p:sp>
        <p:nvSpPr>
          <p:cNvPr id="42" name="Google Shape;42;p3"/>
          <p:cNvSpPr txBox="1"/>
          <p:nvPr/>
        </p:nvSpPr>
        <p:spPr>
          <a:xfrm>
            <a:off x="990600" y="2064990"/>
            <a:ext cx="103062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// Tentukan pin khusus ADC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const int soilPin = 34;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void setup() {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Serial.begin(115200); // Set resolusi bacaan ke 12-bit analogReadResolution(12);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609600" y="1683990"/>
            <a:ext cx="10972800" cy="4191000"/>
          </a:xfrm>
          <a:prstGeom prst="roundRect">
            <a:avLst>
              <a:gd fmla="val 272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09600" y="609600"/>
            <a:ext cx="115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Ekstraksi Nilai Mentah</a:t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990600" y="2064990"/>
            <a:ext cx="103062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void loop() { // Ambil nilai analog (0 - 4095)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int rawValue = analogRead(soilPin);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Serial.print("Nilai Mentah: ");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Serial.println(rawValue);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delay(1000);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Proses Kalibrasi Sensor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3025080"/>
            <a:ext cx="10972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529780"/>
            <a:ext cx="19431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27325" y="2529780"/>
            <a:ext cx="268605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88000" y="2529780"/>
            <a:ext cx="2105025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67651" y="2529780"/>
            <a:ext cx="25146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76350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5550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5713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20151" y="252978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475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" y="3291780"/>
            <a:ext cx="185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Uji Udara Bebas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2675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7319" y="3291780"/>
            <a:ext cx="2786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Catat Angka Maksimum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2838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622" y="3291780"/>
            <a:ext cx="2059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Celup Segelas 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7276" y="252978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9076" y="3291780"/>
            <a:ext cx="2571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Catat Angka Minimum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609600" y="1683990"/>
            <a:ext cx="10972800" cy="4191000"/>
          </a:xfrm>
          <a:prstGeom prst="roundRect">
            <a:avLst>
              <a:gd fmla="val 272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609600" y="609600"/>
            <a:ext cx="115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Konversi Persentase</a:t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990600" y="2064990"/>
            <a:ext cx="103062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// Nilai hasil kalibrasi manual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int dryValue = 3500; // Udara bebas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int wetValue = 1500; // Dalam air // Map nilai terbalik (nilai kecil = basah)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int moisturePercent = map(rawValue, dryValue, wetValue, 0, 100); // Batasi anomali data di luar 0-100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moisturePercent = constrain(moisturePercent, 0, 100);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87" y="3474690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381000" y="6096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Validasi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5425" y="3207990"/>
            <a:ext cx="2238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64748B"/>
                </a:solidFill>
                <a:latin typeface="Space Grotesk"/>
              </a:rPr>
              <a:t>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5425" y="4122390"/>
            <a:ext cx="2238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Kondisi Kering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8896" y="3207990"/>
            <a:ext cx="239315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Space Grotesk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896" y="4122390"/>
            <a:ext cx="23931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Kapasitas Air Penuh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1963" y="2766119"/>
            <a:ext cx="4588073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1E3A8A"/>
                </a:solidFill>
                <a:latin typeface="Space Grotesk"/>
              </a:rPr>
              <a:t>Praktikum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5593" y="3665190"/>
            <a:ext cx="6500812" cy="42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400" i="0" u="none">
                <a:solidFill>
                  <a:srgbClr val="3B82F6"/>
                </a:solidFill>
                <a:latin typeface="Inter"/>
              </a:rPr>
              <a:t>Konsep Pengukuran NDVI Pertanian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27969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09600"/>
            <a:ext cx="5257800" cy="563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594669"/>
            <a:ext cx="690086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Apa itu NDVI?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95650"/>
            <a:ext cx="6572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Normalized Difference Vegetation Index.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44230"/>
            <a:ext cx="5353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Metode pemetaan optik untuk menentukan tingkat kepadatan dan kesehatan vegetasi hijau di suatu area lahan.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15380"/>
            <a:ext cx="10363200" cy="4328219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326" y="3258591"/>
            <a:ext cx="4299346" cy="660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381000" y="6096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Formula Indeks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8600" y="4147988"/>
            <a:ext cx="5143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Rasio matematis pita cahaya pantulan.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7002"/>
            <a:ext cx="3454449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27002"/>
            <a:ext cx="3454449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27002"/>
            <a:ext cx="3454449" cy="1704975"/>
          </a:xfrm>
          <a:prstGeom prst="roundRect">
            <a:avLst>
              <a:gd name="adj" fmla="val 89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622452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27002"/>
            <a:ext cx="3454449" cy="76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927002"/>
            <a:ext cx="9525" cy="1704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4524" y="2927002"/>
            <a:ext cx="9525" cy="1704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849" y="4622452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849" y="2927002"/>
            <a:ext cx="3454449" cy="76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849" y="2927002"/>
            <a:ext cx="9525" cy="1704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3774" y="2927002"/>
            <a:ext cx="9525" cy="1704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99" y="4622452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99" y="2927002"/>
            <a:ext cx="3454449" cy="76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99" y="2927002"/>
            <a:ext cx="9525" cy="1704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3023" y="2927002"/>
            <a:ext cx="9525" cy="1704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Komponen Spektral Dasar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384202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RED 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3841402"/>
            <a:ext cx="27686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Sinar merah diserap klorofil tanaman.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9374" y="3384202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NIR 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9374" y="3841402"/>
            <a:ext cx="27686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Inframerah dipantulkan struktur sel daun.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8624" y="3384202"/>
            <a:ext cx="350883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Kalkulasi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8624" y="3841402"/>
            <a:ext cx="27686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Selisih tinggi berarti vegetasi lebat.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24992"/>
            <a:ext cx="3442096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1696" y="2324992"/>
            <a:ext cx="7530703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067942"/>
            <a:ext cx="34420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51696" y="3067942"/>
            <a:ext cx="7530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782317"/>
            <a:ext cx="34420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51696" y="3782317"/>
            <a:ext cx="7530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496692"/>
            <a:ext cx="34420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51696" y="4496692"/>
            <a:ext cx="7530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5211067"/>
            <a:ext cx="34420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51696" y="5211067"/>
            <a:ext cx="7530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600" y="1615380"/>
          <a:ext cx="10972799" cy="36099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42096"/>
                <a:gridCol w="7530703"/>
              </a:tblGrid>
              <a:tr h="721995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Space Grotesk"/>
                        </a:rPr>
                        <a:t>Rentang Nilai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Space Grotesk"/>
                        </a:rPr>
                        <a:t>Kondisi Objek / Vegetasi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EF4444"/>
                          </a:solidFill>
                          <a:latin typeface="Inter"/>
                        </a:rPr>
                        <a:t>-1.0 hingga 0.0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Air, awan, atau benda mati buatan.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Inter"/>
                        </a:rPr>
                        <a:t>0.0 hingga 0.33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Tanah gersang atau tanaman layu parah.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Inter"/>
                        </a:rPr>
                        <a:t>0.33 hingga 0.66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Fase awal pertumbuhan atau tanaman stres.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Inter"/>
                        </a:rPr>
                        <a:t>0.66 hingga 1.0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475569"/>
                          </a:solidFill>
                          <a:latin typeface="Inter"/>
                        </a:rPr>
                        <a:t>Hutan lebat atau tanaman sangat sehat.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Interpretasi Nilai NDVI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2727"/>
            <a:ext cx="266700" cy="276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41377"/>
            <a:ext cx="26670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70027"/>
            <a:ext cx="266700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Perangkat Pendukung ESP32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88915"/>
            <a:ext cx="11277600" cy="323850"/>
          </a:xfrm>
          <a:prstGeom prst="rect">
            <a:avLst/>
          </a:prstGeom>
          <a:noFill/>
        </p:spPr>
        <p:txBody>
          <a:bodyPr wrap="none" lIns="41910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Inter"/>
              </a:rPr>
              <a:t>Sensor Multispektral:</a:t>
            </a:r>
            <a:r>
              <a:rPr b="0" sz="2100" i="0" u="none">
                <a:solidFill>
                  <a:srgbClr val="334155"/>
                </a:solidFill>
                <a:latin typeface="Inter"/>
              </a:rPr>
              <a:t> Modul I2C AS7263 mendeteksi pita spektrum spesifik.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7565"/>
            <a:ext cx="11277600" cy="323850"/>
          </a:xfrm>
          <a:prstGeom prst="rect">
            <a:avLst/>
          </a:prstGeom>
          <a:noFill/>
        </p:spPr>
        <p:txBody>
          <a:bodyPr wrap="none" lIns="41910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Inter"/>
              </a:rPr>
              <a:t>Dual Fotodiode:</a:t>
            </a:r>
            <a:r>
              <a:rPr b="0" sz="2100" i="0" u="none">
                <a:solidFill>
                  <a:srgbClr val="334155"/>
                </a:solidFill>
                <a:latin typeface="Inter"/>
              </a:rPr>
              <a:t> Rangkaian analog LDR merah dan IR penerima murah.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46215"/>
            <a:ext cx="11277600" cy="323850"/>
          </a:xfrm>
          <a:prstGeom prst="rect">
            <a:avLst/>
          </a:prstGeom>
          <a:noFill/>
        </p:spPr>
        <p:txBody>
          <a:bodyPr wrap="none" lIns="41910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Inter"/>
              </a:rPr>
              <a:t>Drone Kamera:</a:t>
            </a:r>
            <a:r>
              <a:rPr b="0" sz="2100" i="0" u="none">
                <a:solidFill>
                  <a:srgbClr val="334155"/>
                </a:solidFill>
                <a:latin typeface="Inter"/>
              </a:rPr>
              <a:t> Sumber input data eksternal via API WiFi.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609600" y="1310580"/>
            <a:ext cx="10972800" cy="5219700"/>
          </a:xfrm>
          <a:prstGeom prst="roundRect">
            <a:avLst>
              <a:gd fmla="val 218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609600" y="609600"/>
            <a:ext cx="115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Implementasi Logika NDVI</a:t>
            </a:r>
            <a:endParaRPr/>
          </a:p>
        </p:txBody>
      </p:sp>
      <p:sp>
        <p:nvSpPr>
          <p:cNvPr id="54" name="Google Shape;54;p6"/>
          <p:cNvSpPr txBox="1"/>
          <p:nvPr/>
        </p:nvSpPr>
        <p:spPr>
          <a:xfrm>
            <a:off x="990600" y="1691580"/>
            <a:ext cx="10306200" cy="3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// Pseudo-kode untuk sensor spektral I2C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float valRED = sensor.getCalibratedRed();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float valNIR = sensor.getCalibratedNIR(); // Validasi pembagian nol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if ((valNIR + valRED) == 0) {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Serial.println("Error: Intensitas nihil");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 else { // Hitung rasio kesehatan tanaman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float ndvi = (valNIR - valRED) / (valNIR + valRED);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Serial.println(ndvi); </a:t>
            </a:r>
            <a:endParaRPr b="0" i="0" sz="1800" u="none" cap="none" strike="noStrike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2281237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83198" y="2624137"/>
            <a:ext cx="4825603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0515" y="3523208"/>
            <a:ext cx="775096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Selamat mengembangkan sistem lingkungan pintar 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0765" y="4300388"/>
            <a:ext cx="3750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Sesi Diskusi &amp; Tanya Jawab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162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7670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033462"/>
            <a:ext cx="989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https://static0.xdaimages.com/wordpress/wp-content/uploads/wm/2026/09/esp32-s3-wroom-1-foliage.jpg?w=1600&amp;h=900&amp;fit=crop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233487"/>
            <a:ext cx="3131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www.xda-developers.com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1804987"/>
            <a:ext cx="7405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https://studyelectrical.com/wp-content/uploads/2023/03/continous-discrete-and-digital-signal-1.jpg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005012"/>
            <a:ext cx="250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studyelectrical.com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576512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https://cdn11.bigcommerce.com/s-2fbyfnm8ev/images/stencil/300x300/products/494/1888/Arduino-Temp-Humidity-Sensor-Front__61206.1545255336.jpg?c=2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776537"/>
            <a:ext cx="2131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www.pishop.us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348037"/>
            <a:ext cx="10144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https://digilog.pk/cdn/shop/files/hw-330-capacitive-soil-moisture-sensor-arduino-soil-moisture-sensor-1.jpg?v=1786799815&amp;width=1000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548062"/>
            <a:ext cx="1654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digilog.pk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119562"/>
            <a:ext cx="7143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https://dstfotografia.com/wp-content/uploads/2026/04/ndvi_drone_map_17762093034242.webp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319587"/>
            <a:ext cx="2369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dstfotografia.com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